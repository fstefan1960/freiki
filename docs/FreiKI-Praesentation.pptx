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>
            <a:spLocks/>
          </p:cNvSpPr>
          <p:nvPr/>
        </p:nvSpPr>
        <p:spPr>
          <a:xfrm>
            <a:off x="0" y="0"/>
            <a:ext cx="12188825" cy="365760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1" name="s11"/>
          <p:cNvSpPr/>
          <p:nvPr/>
        </p:nvSpPr>
        <p:spPr>
          <a:xfrm>
            <a:off x="0" y="3657600"/>
            <a:ext cx="12188825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2" name="t12"/>
          <p:cNvSpPr txBox="1"/>
          <p:nvPr/>
        </p:nvSpPr>
        <p:spPr>
          <a:xfrm>
            <a:off x="640080" y="1140000"/>
            <a:ext cx="7000000" cy="10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5200" b="1" i="0">
                <a:solidFill>
                  <a:srgbClr val="FFFFFF"/>
                </a:solidFill>
              </a:rPr>
              <a:t>Frei </a:t>
            </a:r>
            <a:r>
              <a:rPr lang="de-DE" sz="5200" b="1" i="0">
                <a:solidFill>
                  <a:srgbClr val="1F54C0"/>
                </a:solidFill>
              </a:rPr>
              <a:t>KI</a:t>
            </a:r>
          </a:p>
        </p:txBody>
      </p:sp>
      <p:sp>
        <p:nvSpPr>
          <p:cNvPr id="13" name="t13"/>
          <p:cNvSpPr txBox="1">
            <a:spLocks/>
          </p:cNvSpPr>
          <p:nvPr/>
        </p:nvSpPr>
        <p:spPr>
          <a:xfrm>
            <a:off x="643080" y="2160000"/>
            <a:ext cx="8000000" cy="5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r>
              <a:rPr lang="de-DE" sz="2400" b="1" dirty="0" err="1">
                <a:solidFill>
                  <a:schemeClr val="bg1">
                    <a:lumMod val="85000"/>
                  </a:schemeClr>
                </a:solidFill>
              </a:rPr>
              <a:t>FreiKI</a:t>
            </a:r>
            <a:r>
              <a:rPr lang="de-DE" sz="2400" b="1" dirty="0">
                <a:solidFill>
                  <a:schemeClr val="bg1">
                    <a:lumMod val="85000"/>
                  </a:schemeClr>
                </a:solidFill>
              </a:rPr>
              <a:t>. Ihre Daten. Ihr Server.</a:t>
            </a:r>
          </a:p>
        </p:txBody>
      </p:sp>
      <p:pic>
        <p:nvPicPr>
          <p:cNvPr id="14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0000" y="560000"/>
            <a:ext cx="2200000" cy="2200000"/>
          </a:xfrm>
          <a:prstGeom prst="rect">
            <a:avLst/>
          </a:prstGeom>
        </p:spPr>
      </p:pic>
      <p:sp>
        <p:nvSpPr>
          <p:cNvPr id="15" name="s15"/>
          <p:cNvSpPr>
            <a:spLocks/>
          </p:cNvSpPr>
          <p:nvPr/>
        </p:nvSpPr>
        <p:spPr>
          <a:xfrm>
            <a:off x="640080" y="4620000"/>
            <a:ext cx="2620000" cy="560000"/>
          </a:xfrm>
          <a:prstGeom prst="roundRect">
            <a:avLst>
              <a:gd name="adj" fmla="val 24000"/>
            </a:avLst>
          </a:prstGeom>
          <a:solidFill>
            <a:srgbClr val="EAF7EE"/>
          </a:solidFill>
          <a:ln w="9525">
            <a:solidFill>
              <a:srgbClr val="CDE9D7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16" name="t16"/>
          <p:cNvSpPr txBox="1"/>
          <p:nvPr/>
        </p:nvSpPr>
        <p:spPr>
          <a:xfrm>
            <a:off x="640080" y="4620000"/>
            <a:ext cx="2620000" cy="5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7A45"/>
                </a:solidFill>
              </a:rPr>
              <a:t>Server in Deutschland</a:t>
            </a:r>
          </a:p>
        </p:txBody>
      </p:sp>
      <p:sp>
        <p:nvSpPr>
          <p:cNvPr id="17" name="s17"/>
          <p:cNvSpPr/>
          <p:nvPr/>
        </p:nvSpPr>
        <p:spPr>
          <a:xfrm>
            <a:off x="3420080" y="4620000"/>
            <a:ext cx="2620000" cy="560000"/>
          </a:xfrm>
          <a:prstGeom prst="roundRect">
            <a:avLst>
              <a:gd name="adj" fmla="val 24000"/>
            </a:avLst>
          </a:prstGeom>
          <a:solidFill>
            <a:srgbClr val="EAF7EE"/>
          </a:solidFill>
          <a:ln w="9525">
            <a:solidFill>
              <a:srgbClr val="CDE9D7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8" name="t18"/>
          <p:cNvSpPr txBox="1"/>
          <p:nvPr/>
        </p:nvSpPr>
        <p:spPr>
          <a:xfrm>
            <a:off x="3420080" y="4620000"/>
            <a:ext cx="2620000" cy="5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7A45"/>
                </a:solidFill>
              </a:rPr>
              <a:t>DSGVO-konform</a:t>
            </a:r>
          </a:p>
        </p:txBody>
      </p:sp>
      <p:sp>
        <p:nvSpPr>
          <p:cNvPr id="19" name="s19"/>
          <p:cNvSpPr/>
          <p:nvPr/>
        </p:nvSpPr>
        <p:spPr>
          <a:xfrm>
            <a:off x="6200080" y="4620000"/>
            <a:ext cx="2620000" cy="560000"/>
          </a:xfrm>
          <a:prstGeom prst="roundRect">
            <a:avLst>
              <a:gd name="adj" fmla="val 24000"/>
            </a:avLst>
          </a:prstGeom>
          <a:solidFill>
            <a:srgbClr val="EAF7EE"/>
          </a:solidFill>
          <a:ln w="9525">
            <a:solidFill>
              <a:srgbClr val="CDE9D7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0" name="t20"/>
          <p:cNvSpPr txBox="1"/>
          <p:nvPr/>
        </p:nvSpPr>
        <p:spPr>
          <a:xfrm>
            <a:off x="6200080" y="4620000"/>
            <a:ext cx="2620000" cy="5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7A45"/>
                </a:solidFill>
              </a:rPr>
              <a:t>Lokales LLM</a:t>
            </a:r>
          </a:p>
        </p:txBody>
      </p:sp>
      <p:sp>
        <p:nvSpPr>
          <p:cNvPr id="21" name="s21"/>
          <p:cNvSpPr/>
          <p:nvPr/>
        </p:nvSpPr>
        <p:spPr>
          <a:xfrm>
            <a:off x="8980080" y="4620000"/>
            <a:ext cx="2620000" cy="560000"/>
          </a:xfrm>
          <a:prstGeom prst="roundRect">
            <a:avLst>
              <a:gd name="adj" fmla="val 24000"/>
            </a:avLst>
          </a:prstGeom>
          <a:solidFill>
            <a:srgbClr val="EAF7EE"/>
          </a:solidFill>
          <a:ln w="9525">
            <a:solidFill>
              <a:srgbClr val="CDE9D7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8980080" y="4620000"/>
            <a:ext cx="2620000" cy="5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7A45"/>
                </a:solidFill>
              </a:rPr>
              <a:t>Open Source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640080" y="5560000"/>
            <a:ext cx="7000000" cy="48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0" i="0" dirty="0">
                <a:solidFill>
                  <a:srgbClr val="5A6B82"/>
                </a:solidFill>
              </a:rPr>
              <a:t>Anfragen: </a:t>
            </a:r>
            <a:r>
              <a:rPr lang="de-DE" sz="1800" b="0" i="0" dirty="0" err="1">
                <a:solidFill>
                  <a:srgbClr val="5A6B82"/>
                </a:solidFill>
              </a:rPr>
              <a:t>admin@freiki.com</a:t>
            </a:r>
            <a:endParaRPr lang="de-DE" sz="1800" b="0" i="0" dirty="0">
              <a:solidFill>
                <a:srgbClr val="5A6B8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DIE EINFACHE ERKLÄRUNG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Fremdes Büro oder eigener Mitarbeiter?</a:t>
            </a:r>
          </a:p>
        </p:txBody>
      </p:sp>
      <p:sp>
        <p:nvSpPr>
          <p:cNvPr id="13" name="s13"/>
          <p:cNvSpPr/>
          <p:nvPr/>
        </p:nvSpPr>
        <p:spPr>
          <a:xfrm>
            <a:off x="548640" y="1820000"/>
            <a:ext cx="5395772" cy="4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4" name="s14"/>
          <p:cNvSpPr/>
          <p:nvPr/>
        </p:nvSpPr>
        <p:spPr>
          <a:xfrm>
            <a:off x="828640" y="212000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5" name="s15"/>
          <p:cNvSpPr/>
          <p:nvPr/>
        </p:nvSpPr>
        <p:spPr>
          <a:xfrm>
            <a:off x="928640" y="2270000"/>
            <a:ext cx="340000" cy="230000"/>
          </a:xfrm>
          <a:prstGeom prst="cloud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6" name="t16"/>
          <p:cNvSpPr txBox="1"/>
          <p:nvPr/>
        </p:nvSpPr>
        <p:spPr>
          <a:xfrm>
            <a:off x="828640" y="2770000"/>
            <a:ext cx="4555772" cy="6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API-KI (z. B. ChatGPT)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000" b="1" i="0">
                <a:solidFill>
                  <a:srgbClr val="15294A"/>
                </a:solidFill>
              </a:rPr>
              <a:t>Das fremde Büro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848640" y="3460000"/>
            <a:ext cx="4795772" cy="17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Sie schicken Ihre Frage per Brief an ein Büro im Ausland. Das Büro liest alles – und schickt eine Antwort zurück. Ob Kopien gemacht oder Infos weitergegeben werden, wissen Sie nicht.</a:t>
            </a:r>
          </a:p>
        </p:txBody>
      </p:sp>
      <p:sp>
        <p:nvSpPr>
          <p:cNvPr id="18" name="s18"/>
          <p:cNvSpPr/>
          <p:nvPr/>
        </p:nvSpPr>
        <p:spPr>
          <a:xfrm>
            <a:off x="848640" y="5280000"/>
            <a:ext cx="4795772" cy="470000"/>
          </a:xfrm>
          <a:prstGeom prst="roundRect">
            <a:avLst>
              <a:gd name="adj" fmla="val 22000"/>
            </a:avLst>
          </a:prstGeom>
          <a:solidFill>
            <a:srgbClr val="FBEDED"/>
          </a:solidFill>
          <a:ln w="9525">
            <a:solidFill>
              <a:srgbClr val="F2D2D2"/>
            </a:solidFill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B23B3B"/>
                </a:solidFill>
              </a:rPr>
              <a:t>Daten verlassen Ihre Organisation</a:t>
            </a:r>
          </a:p>
        </p:txBody>
      </p:sp>
      <p:sp>
        <p:nvSpPr>
          <p:cNvPr id="19" name="s19"/>
          <p:cNvSpPr/>
          <p:nvPr/>
        </p:nvSpPr>
        <p:spPr>
          <a:xfrm>
            <a:off x="6244412" y="1820000"/>
            <a:ext cx="5395772" cy="4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E9D7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0" name="s20"/>
          <p:cNvSpPr/>
          <p:nvPr/>
        </p:nvSpPr>
        <p:spPr>
          <a:xfrm>
            <a:off x="6524412" y="212000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1" name="s21"/>
          <p:cNvSpPr/>
          <p:nvPr/>
        </p:nvSpPr>
        <p:spPr>
          <a:xfrm>
            <a:off x="6694412" y="2220000"/>
            <a:ext cx="200000" cy="200000"/>
          </a:xfrm>
          <a:prstGeom prst="donut">
            <a:avLst>
              <a:gd name="adj" fmla="val 22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" name="s22"/>
          <p:cNvSpPr/>
          <p:nvPr/>
        </p:nvSpPr>
        <p:spPr>
          <a:xfrm>
            <a:off x="6659412" y="2360000"/>
            <a:ext cx="270000" cy="210000"/>
          </a:xfrm>
          <a:prstGeom prst="roundRect">
            <a:avLst>
              <a:gd name="adj" fmla="val 18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3" name="t23"/>
          <p:cNvSpPr txBox="1"/>
          <p:nvPr/>
        </p:nvSpPr>
        <p:spPr>
          <a:xfrm>
            <a:off x="6524412" y="2770000"/>
            <a:ext cx="4555772" cy="6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FreiKI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000" b="1" i="0">
                <a:solidFill>
                  <a:srgbClr val="15294A"/>
                </a:solidFill>
              </a:rPr>
              <a:t>Der eigene Mitarbeiter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6544412" y="3460000"/>
            <a:ext cx="4795772" cy="17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 dirty="0">
                <a:solidFill>
                  <a:srgbClr val="5A6B82"/>
                </a:solidFill>
              </a:rPr>
              <a:t>Sie fragen Ihren Mitarbeiter, der für Sie in einem abgesicherten Büro sitzt. Er antwortet sofort – seine Infos verlassen dieses Büro niemals und werden auch nicht kopiert.</a:t>
            </a:r>
          </a:p>
        </p:txBody>
      </p:sp>
      <p:sp>
        <p:nvSpPr>
          <p:cNvPr id="25" name="s25"/>
          <p:cNvSpPr/>
          <p:nvPr/>
        </p:nvSpPr>
        <p:spPr>
          <a:xfrm>
            <a:off x="6544412" y="5280000"/>
            <a:ext cx="4795772" cy="470000"/>
          </a:xfrm>
          <a:prstGeom prst="roundRect">
            <a:avLst>
              <a:gd name="adj" fmla="val 22000"/>
            </a:avLst>
          </a:prstGeom>
          <a:solidFill>
            <a:srgbClr val="EAF7EE"/>
          </a:solidFill>
          <a:ln w="9525">
            <a:solidFill>
              <a:srgbClr val="CDE9D7"/>
            </a:solidFill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1F7A45"/>
                </a:solidFill>
              </a:rPr>
              <a:t>Daten bleiben bei Ihnen</a:t>
            </a:r>
          </a:p>
        </p:txBody>
      </p:sp>
      <p:pic>
        <p:nvPicPr>
          <p:cNvPr id="26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27" name="t27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1" name="t11"/>
          <p:cNvSpPr txBox="1">
            <a:spLocks/>
          </p:cNvSpPr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FUNKTIONEN</a:t>
            </a:r>
          </a:p>
        </p:txBody>
      </p:sp>
      <p:sp>
        <p:nvSpPr>
          <p:cNvPr id="12" name="t12"/>
          <p:cNvSpPr txBox="1">
            <a:spLocks/>
          </p:cNvSpPr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Was FreiKI kann</a:t>
            </a:r>
          </a:p>
        </p:txBody>
      </p:sp>
      <p:sp>
        <p:nvSpPr>
          <p:cNvPr id="13" name="t13"/>
          <p:cNvSpPr txBox="1">
            <a:spLocks/>
          </p:cNvSpPr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Ein Werkzeugkasten statt eines einzelnen Chatfensters – jeder Baustein lässt sich einzeln freischalten.</a:t>
            </a:r>
          </a:p>
        </p:txBody>
      </p:sp>
      <p:sp>
        <p:nvSpPr>
          <p:cNvPr id="14" name="s14"/>
          <p:cNvSpPr/>
          <p:nvPr/>
        </p:nvSpPr>
        <p:spPr>
          <a:xfrm>
            <a:off x="548640" y="20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15" name="s15"/>
          <p:cNvSpPr/>
          <p:nvPr/>
        </p:nvSpPr>
        <p:spPr>
          <a:xfrm>
            <a:off x="777240" y="23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6" name="s16"/>
          <p:cNvSpPr/>
          <p:nvPr/>
        </p:nvSpPr>
        <p:spPr>
          <a:xfrm>
            <a:off x="887240" y="2477062"/>
            <a:ext cx="320000" cy="250000"/>
          </a:xfrm>
          <a:prstGeom prst="wedgeRoundRectCallout">
            <a:avLst>
              <a:gd name="adj1" fmla="val -40000"/>
              <a:gd name="adj2" fmla="val 60000"/>
              <a:gd name="adj3" fmla="val 16667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7" name="t17"/>
          <p:cNvSpPr txBox="1"/>
          <p:nvPr/>
        </p:nvSpPr>
        <p:spPr>
          <a:xfrm>
            <a:off x="777240" y="30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Chat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Freies Gespräch mit dem lokalen LLM</a:t>
            </a:r>
          </a:p>
        </p:txBody>
      </p:sp>
      <p:sp>
        <p:nvSpPr>
          <p:cNvPr id="18" name="s18"/>
          <p:cNvSpPr/>
          <p:nvPr/>
        </p:nvSpPr>
        <p:spPr>
          <a:xfrm>
            <a:off x="4312488" y="20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19" name="s19"/>
          <p:cNvSpPr/>
          <p:nvPr/>
        </p:nvSpPr>
        <p:spPr>
          <a:xfrm>
            <a:off x="4541088" y="23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0" name="s20"/>
          <p:cNvSpPr/>
          <p:nvPr/>
        </p:nvSpPr>
        <p:spPr>
          <a:xfrm>
            <a:off x="4691088" y="2472062"/>
            <a:ext cx="240000" cy="310000"/>
          </a:xfrm>
          <a:prstGeom prst="can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1" name="t21"/>
          <p:cNvSpPr txBox="1"/>
          <p:nvPr/>
        </p:nvSpPr>
        <p:spPr>
          <a:xfrm>
            <a:off x="4541088" y="30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Wissen (RAG)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Suche in eigenen Wissensbereichen</a:t>
            </a:r>
          </a:p>
        </p:txBody>
      </p:sp>
      <p:sp>
        <p:nvSpPr>
          <p:cNvPr id="22" name="s22"/>
          <p:cNvSpPr/>
          <p:nvPr/>
        </p:nvSpPr>
        <p:spPr>
          <a:xfrm>
            <a:off x="8076336" y="20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23" name="s23"/>
          <p:cNvSpPr/>
          <p:nvPr/>
        </p:nvSpPr>
        <p:spPr>
          <a:xfrm>
            <a:off x="8304936" y="23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4" name="s24"/>
          <p:cNvSpPr/>
          <p:nvPr/>
        </p:nvSpPr>
        <p:spPr>
          <a:xfrm>
            <a:off x="8429936" y="2497062"/>
            <a:ext cx="300000" cy="260000"/>
          </a:xfrm>
          <a:prstGeom prst="flowChartDelay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5" name="t25"/>
          <p:cNvSpPr txBox="1"/>
          <p:nvPr/>
        </p:nvSpPr>
        <p:spPr>
          <a:xfrm>
            <a:off x="8304936" y="30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Transkription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Audio in Text und zurück, inkl. Vorlesen</a:t>
            </a:r>
          </a:p>
        </p:txBody>
      </p:sp>
      <p:sp>
        <p:nvSpPr>
          <p:cNvPr id="26" name="s26"/>
          <p:cNvSpPr/>
          <p:nvPr/>
        </p:nvSpPr>
        <p:spPr>
          <a:xfrm>
            <a:off x="548640" y="42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27" name="s27"/>
          <p:cNvSpPr/>
          <p:nvPr/>
        </p:nvSpPr>
        <p:spPr>
          <a:xfrm>
            <a:off x="777240" y="45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8" name="s28"/>
          <p:cNvSpPr/>
          <p:nvPr/>
        </p:nvSpPr>
        <p:spPr>
          <a:xfrm>
            <a:off x="887240" y="4667062"/>
            <a:ext cx="235000" cy="235000"/>
          </a:xfrm>
          <a:prstGeom prst="ellipse">
            <a:avLst/>
          </a:prstGeom>
          <a:noFill/>
          <a:ln w="34000">
            <a:solidFill>
              <a:srgbClr val="1F54C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29" name="s29"/>
          <p:cNvSpPr/>
          <p:nvPr/>
        </p:nvSpPr>
        <p:spPr>
          <a:xfrm rot="2700000">
            <a:off x="1077240" y="4857062"/>
            <a:ext cx="180000" cy="60000"/>
          </a:xfrm>
          <a:prstGeom prst="roundRect">
            <a:avLst>
              <a:gd name="adj" fmla="val 50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30" name="t30"/>
          <p:cNvSpPr txBox="1"/>
          <p:nvPr/>
        </p:nvSpPr>
        <p:spPr>
          <a:xfrm>
            <a:off x="777240" y="52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Websuche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Interne Recherche via SearXNG</a:t>
            </a:r>
          </a:p>
        </p:txBody>
      </p:sp>
      <p:sp>
        <p:nvSpPr>
          <p:cNvPr id="31" name="s31"/>
          <p:cNvSpPr/>
          <p:nvPr/>
        </p:nvSpPr>
        <p:spPr>
          <a:xfrm>
            <a:off x="4312488" y="42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32" name="s32"/>
          <p:cNvSpPr/>
          <p:nvPr/>
        </p:nvSpPr>
        <p:spPr>
          <a:xfrm>
            <a:off x="4541088" y="45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33" name="s33"/>
          <p:cNvSpPr/>
          <p:nvPr/>
        </p:nvSpPr>
        <p:spPr>
          <a:xfrm>
            <a:off x="4661088" y="4677062"/>
            <a:ext cx="300000" cy="300000"/>
          </a:xfrm>
          <a:prstGeom prst="donut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34" name="t34"/>
          <p:cNvSpPr txBox="1"/>
          <p:nvPr/>
        </p:nvSpPr>
        <p:spPr>
          <a:xfrm>
            <a:off x="4541088" y="52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100+ Sprachen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Für international zusammengesetzte Teams</a:t>
            </a:r>
          </a:p>
        </p:txBody>
      </p:sp>
      <p:sp>
        <p:nvSpPr>
          <p:cNvPr id="35" name="s35"/>
          <p:cNvSpPr/>
          <p:nvPr/>
        </p:nvSpPr>
        <p:spPr>
          <a:xfrm>
            <a:off x="8076336" y="42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36" name="s36"/>
          <p:cNvSpPr/>
          <p:nvPr/>
        </p:nvSpPr>
        <p:spPr>
          <a:xfrm>
            <a:off x="8304936" y="45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37" name="s37"/>
          <p:cNvSpPr/>
          <p:nvPr/>
        </p:nvSpPr>
        <p:spPr>
          <a:xfrm>
            <a:off x="8454936" y="4677062"/>
            <a:ext cx="240000" cy="300000"/>
          </a:xfrm>
          <a:prstGeom prst="upArrow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38" name="t38"/>
          <p:cNvSpPr txBox="1"/>
          <p:nvPr/>
        </p:nvSpPr>
        <p:spPr>
          <a:xfrm>
            <a:off x="8304936" y="52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Wissen hinterlegen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Unternehmenswissen einfach befragen</a:t>
            </a:r>
          </a:p>
        </p:txBody>
      </p:sp>
      <p:pic>
        <p:nvPicPr>
          <p:cNvPr id="39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40" name="t40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FUNKTIONEN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Was FreiKI kann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Von Bildverarbeitung bis Team-Integration – jeder weitere Baustein einzeln zuschaltbar.</a:t>
            </a:r>
          </a:p>
        </p:txBody>
      </p:sp>
      <p:sp>
        <p:nvSpPr>
          <p:cNvPr id="14" name="s14"/>
          <p:cNvSpPr/>
          <p:nvPr/>
        </p:nvSpPr>
        <p:spPr>
          <a:xfrm>
            <a:off x="548640" y="20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5" name="s15"/>
          <p:cNvSpPr>
            <a:spLocks/>
          </p:cNvSpPr>
          <p:nvPr/>
        </p:nvSpPr>
        <p:spPr>
          <a:xfrm>
            <a:off x="777240" y="23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6" name="s16"/>
          <p:cNvSpPr>
            <a:spLocks/>
          </p:cNvSpPr>
          <p:nvPr/>
        </p:nvSpPr>
        <p:spPr>
          <a:xfrm>
            <a:off x="892240" y="2487062"/>
            <a:ext cx="310000" cy="280000"/>
          </a:xfrm>
          <a:prstGeom prst="frame">
            <a:avLst>
              <a:gd name="adj1" fmla="val 12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7" name="t17"/>
          <p:cNvSpPr txBox="1"/>
          <p:nvPr/>
        </p:nvSpPr>
        <p:spPr>
          <a:xfrm>
            <a:off x="777240" y="30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Foto-OCR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Text aus Fotos erkennen und nutzen</a:t>
            </a:r>
          </a:p>
        </p:txBody>
      </p:sp>
      <p:sp>
        <p:nvSpPr>
          <p:cNvPr id="18" name="s18"/>
          <p:cNvSpPr/>
          <p:nvPr/>
        </p:nvSpPr>
        <p:spPr>
          <a:xfrm>
            <a:off x="4312488" y="20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9" name="s19"/>
          <p:cNvSpPr>
            <a:spLocks/>
          </p:cNvSpPr>
          <p:nvPr/>
        </p:nvSpPr>
        <p:spPr>
          <a:xfrm>
            <a:off x="4541088" y="23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0" name="s20"/>
          <p:cNvSpPr>
            <a:spLocks/>
          </p:cNvSpPr>
          <p:nvPr/>
        </p:nvSpPr>
        <p:spPr>
          <a:xfrm>
            <a:off x="4661088" y="2492062"/>
            <a:ext cx="300000" cy="260000"/>
          </a:xfrm>
          <a:prstGeom prst="flowChartDocument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1" name="t21"/>
          <p:cNvSpPr txBox="1"/>
          <p:nvPr/>
        </p:nvSpPr>
        <p:spPr>
          <a:xfrm>
            <a:off x="4541088" y="30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MultiDoc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Mehrere Dokumente gleichzeitig vergleichen</a:t>
            </a:r>
          </a:p>
        </p:txBody>
      </p:sp>
      <p:sp>
        <p:nvSpPr>
          <p:cNvPr id="22" name="s22"/>
          <p:cNvSpPr/>
          <p:nvPr/>
        </p:nvSpPr>
        <p:spPr>
          <a:xfrm>
            <a:off x="8076336" y="20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23" name="s23"/>
          <p:cNvSpPr/>
          <p:nvPr/>
        </p:nvSpPr>
        <p:spPr>
          <a:xfrm>
            <a:off x="8304936" y="23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4" name="s24"/>
          <p:cNvSpPr/>
          <p:nvPr/>
        </p:nvSpPr>
        <p:spPr>
          <a:xfrm>
            <a:off x="8424936" y="2492062"/>
            <a:ext cx="300000" cy="260000"/>
          </a:xfrm>
          <a:prstGeom prst="flowChartDocument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5" name="t25"/>
          <p:cNvSpPr txBox="1"/>
          <p:nvPr/>
        </p:nvSpPr>
        <p:spPr>
          <a:xfrm>
            <a:off x="8304936" y="30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Leichte Sprache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Texte einfach und verständlich aufbereiten</a:t>
            </a:r>
          </a:p>
        </p:txBody>
      </p:sp>
      <p:sp>
        <p:nvSpPr>
          <p:cNvPr id="26" name="s26"/>
          <p:cNvSpPr/>
          <p:nvPr/>
        </p:nvSpPr>
        <p:spPr>
          <a:xfrm>
            <a:off x="548640" y="42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7" name="s27"/>
          <p:cNvSpPr/>
          <p:nvPr/>
        </p:nvSpPr>
        <p:spPr>
          <a:xfrm>
            <a:off x="777240" y="45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8" name="s28"/>
          <p:cNvSpPr/>
          <p:nvPr/>
        </p:nvSpPr>
        <p:spPr>
          <a:xfrm>
            <a:off x="892240" y="4687062"/>
            <a:ext cx="310000" cy="280000"/>
          </a:xfrm>
          <a:prstGeom prst="frame">
            <a:avLst>
              <a:gd name="adj1" fmla="val 12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9" name="t29"/>
          <p:cNvSpPr txBox="1"/>
          <p:nvPr/>
        </p:nvSpPr>
        <p:spPr>
          <a:xfrm>
            <a:off x="777240" y="52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Piktogramme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Bildkarten (ARASAAC) herunterladen</a:t>
            </a:r>
          </a:p>
        </p:txBody>
      </p:sp>
      <p:sp>
        <p:nvSpPr>
          <p:cNvPr id="30" name="s30"/>
          <p:cNvSpPr/>
          <p:nvPr/>
        </p:nvSpPr>
        <p:spPr>
          <a:xfrm>
            <a:off x="4312488" y="42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31" name="s31"/>
          <p:cNvSpPr/>
          <p:nvPr/>
        </p:nvSpPr>
        <p:spPr>
          <a:xfrm>
            <a:off x="4541088" y="45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2" name="s32"/>
          <p:cNvSpPr/>
          <p:nvPr/>
        </p:nvSpPr>
        <p:spPr>
          <a:xfrm>
            <a:off x="4651088" y="4677062"/>
            <a:ext cx="320000" cy="250000"/>
          </a:xfrm>
          <a:prstGeom prst="wedgeRoundRectCallout">
            <a:avLst>
              <a:gd name="adj1" fmla="val -40000"/>
              <a:gd name="adj2" fmla="val 60000"/>
              <a:gd name="adj3" fmla="val 16667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3" name="t33"/>
          <p:cNvSpPr txBox="1"/>
          <p:nvPr/>
        </p:nvSpPr>
        <p:spPr>
          <a:xfrm>
            <a:off x="4541088" y="52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Team-Chat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KI-Assistent direkt im Mattermost</a:t>
            </a:r>
          </a:p>
        </p:txBody>
      </p:sp>
      <p:sp>
        <p:nvSpPr>
          <p:cNvPr id="34" name="s34"/>
          <p:cNvSpPr/>
          <p:nvPr/>
        </p:nvSpPr>
        <p:spPr>
          <a:xfrm>
            <a:off x="8076336" y="4280000"/>
            <a:ext cx="3563848" cy="20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35" name="s35"/>
          <p:cNvSpPr/>
          <p:nvPr/>
        </p:nvSpPr>
        <p:spPr>
          <a:xfrm>
            <a:off x="8304936" y="4557062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6" name="s36"/>
          <p:cNvSpPr/>
          <p:nvPr/>
        </p:nvSpPr>
        <p:spPr>
          <a:xfrm>
            <a:off x="8424936" y="4692062"/>
            <a:ext cx="300000" cy="260000"/>
          </a:xfrm>
          <a:prstGeom prst="flowChartDocument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7" name="t37"/>
          <p:cNvSpPr txBox="1"/>
          <p:nvPr/>
        </p:nvSpPr>
        <p:spPr>
          <a:xfrm>
            <a:off x="8304936" y="5217062"/>
            <a:ext cx="3106648" cy="8343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DMS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KI-gestütztes Dokumentenarchiv</a:t>
            </a:r>
          </a:p>
        </p:txBody>
      </p:sp>
      <p:pic>
        <p:nvPicPr>
          <p:cNvPr id="38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39" name="t39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DATENSCHUTZ KONKRET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Wie eine Mietwerkstatt – nur für KI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Stellen Sie sich FreiKI wie eine Mietwerkstatt vor: Sie nutzen Chat, Wissenssuche, Übersetzung und Transkription – so viele Teilwerkstätten, wie Sie brauchen. Wenn Sie gehen, weiß niemand, was Sie darin gemacht haben.</a:t>
            </a:r>
          </a:p>
        </p:txBody>
      </p:sp>
      <p:sp>
        <p:nvSpPr>
          <p:cNvPr id="14" name="s14"/>
          <p:cNvSpPr/>
          <p:nvPr/>
        </p:nvSpPr>
        <p:spPr>
          <a:xfrm>
            <a:off x="964412" y="2820000"/>
            <a:ext cx="2280000" cy="15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5" name="s15"/>
          <p:cNvSpPr/>
          <p:nvPr/>
        </p:nvSpPr>
        <p:spPr>
          <a:xfrm>
            <a:off x="1834412" y="305000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6" name="s16"/>
          <p:cNvSpPr/>
          <p:nvPr/>
        </p:nvSpPr>
        <p:spPr>
          <a:xfrm>
            <a:off x="1944412" y="3170000"/>
            <a:ext cx="320000" cy="250000"/>
          </a:xfrm>
          <a:prstGeom prst="wedgeRoundRectCallout">
            <a:avLst>
              <a:gd name="adj1" fmla="val -40000"/>
              <a:gd name="adj2" fmla="val 60000"/>
              <a:gd name="adj3" fmla="val 16667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1024412" y="3680000"/>
            <a:ext cx="2160000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Frage gestellt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3244412" y="2820000"/>
            <a:ext cx="380000" cy="156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54C0"/>
                </a:solidFill>
              </a:rPr>
              <a:t>→</a:t>
            </a:r>
          </a:p>
        </p:txBody>
      </p:sp>
      <p:sp>
        <p:nvSpPr>
          <p:cNvPr id="19" name="s19"/>
          <p:cNvSpPr/>
          <p:nvPr/>
        </p:nvSpPr>
        <p:spPr>
          <a:xfrm>
            <a:off x="3624412" y="2820000"/>
            <a:ext cx="2280000" cy="15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0" name="s20"/>
          <p:cNvSpPr/>
          <p:nvPr/>
        </p:nvSpPr>
        <p:spPr>
          <a:xfrm>
            <a:off x="4494412" y="305000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1" name="s21"/>
          <p:cNvSpPr/>
          <p:nvPr/>
        </p:nvSpPr>
        <p:spPr>
          <a:xfrm>
            <a:off x="4604412" y="3170000"/>
            <a:ext cx="320000" cy="250000"/>
          </a:xfrm>
          <a:prstGeom prst="wedgeRoundRectCallout">
            <a:avLst>
              <a:gd name="adj1" fmla="val -40000"/>
              <a:gd name="adj2" fmla="val 60000"/>
              <a:gd name="adj3" fmla="val 16667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3684412" y="3680000"/>
            <a:ext cx="2160000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FreiKI antwortet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5904412" y="2820000"/>
            <a:ext cx="380000" cy="156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54C0"/>
                </a:solidFill>
              </a:rPr>
              <a:t>→</a:t>
            </a:r>
          </a:p>
        </p:txBody>
      </p:sp>
      <p:sp>
        <p:nvSpPr>
          <p:cNvPr id="24" name="s24"/>
          <p:cNvSpPr/>
          <p:nvPr/>
        </p:nvSpPr>
        <p:spPr>
          <a:xfrm>
            <a:off x="6284412" y="2820000"/>
            <a:ext cx="2280000" cy="15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5" name="s25"/>
          <p:cNvSpPr/>
          <p:nvPr/>
        </p:nvSpPr>
        <p:spPr>
          <a:xfrm>
            <a:off x="7154412" y="305000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6" name="s26"/>
          <p:cNvSpPr/>
          <p:nvPr/>
        </p:nvSpPr>
        <p:spPr>
          <a:xfrm>
            <a:off x="7274412" y="3170000"/>
            <a:ext cx="300000" cy="300000"/>
          </a:xfrm>
          <a:prstGeom prst="noSmoking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7" name="t27"/>
          <p:cNvSpPr txBox="1"/>
          <p:nvPr/>
        </p:nvSpPr>
        <p:spPr>
          <a:xfrm>
            <a:off x="6344412" y="3680000"/>
            <a:ext cx="2160000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Verlauf gelöscht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8564412" y="2820000"/>
            <a:ext cx="380000" cy="156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54C0"/>
                </a:solidFill>
              </a:rPr>
              <a:t>→</a:t>
            </a:r>
          </a:p>
        </p:txBody>
      </p:sp>
      <p:sp>
        <p:nvSpPr>
          <p:cNvPr id="29" name="s29"/>
          <p:cNvSpPr/>
          <p:nvPr/>
        </p:nvSpPr>
        <p:spPr>
          <a:xfrm>
            <a:off x="8944412" y="2820000"/>
            <a:ext cx="2280000" cy="15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30" name="s30"/>
          <p:cNvSpPr/>
          <p:nvPr/>
        </p:nvSpPr>
        <p:spPr>
          <a:xfrm>
            <a:off x="9814412" y="305000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1" name="s31"/>
          <p:cNvSpPr/>
          <p:nvPr/>
        </p:nvSpPr>
        <p:spPr>
          <a:xfrm>
            <a:off x="9964412" y="3165000"/>
            <a:ext cx="240000" cy="310000"/>
          </a:xfrm>
          <a:prstGeom prst="can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2" name="t32"/>
          <p:cNvSpPr txBox="1"/>
          <p:nvPr/>
        </p:nvSpPr>
        <p:spPr>
          <a:xfrm>
            <a:off x="9004412" y="3680000"/>
            <a:ext cx="2160000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Leerer Speicher</a:t>
            </a:r>
          </a:p>
        </p:txBody>
      </p:sp>
      <p:sp>
        <p:nvSpPr>
          <p:cNvPr id="33" name="s33"/>
          <p:cNvSpPr/>
          <p:nvPr/>
        </p:nvSpPr>
        <p:spPr>
          <a:xfrm>
            <a:off x="1348640" y="4760000"/>
            <a:ext cx="9491545" cy="560000"/>
          </a:xfrm>
          <a:prstGeom prst="roundRect">
            <a:avLst>
              <a:gd name="adj" fmla="val 18000"/>
            </a:avLst>
          </a:prstGeom>
          <a:solidFill>
            <a:srgbClr val="EEF2FB"/>
          </a:solidFill>
          <a:ln w="9525">
            <a:solidFill>
              <a:srgbClr val="DCE5F6"/>
            </a:solidFill>
          </a:ln>
        </p:spPr>
        <p:txBody>
          <a:bodyPr rtlCol="0" anchor="ctr"/>
          <a:lstStyle/>
          <a:p>
            <a:pPr algn="ctr"/>
            <a:r>
              <a:rPr lang="de-DE" sz="1800" b="0">
                <a:solidFill>
                  <a:srgbClr val="5A6B82"/>
                </a:solidFill>
              </a:rPr>
              <a:t>Anfragen werden serverseitig nicht gespeichert. Der Chatverlauf bleibt ausschließlich in Ihrem Browser.</a:t>
            </a:r>
          </a:p>
        </p:txBody>
      </p:sp>
      <p:pic>
        <p:nvPicPr>
          <p:cNvPr id="34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35" name="t35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DATENSCHUTZ KONKRET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Ihre Daten bleiben bei Ihnen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Drei Garantien, die FreiKI von klassischen Cloud-Diensten unterscheiden.</a:t>
            </a:r>
          </a:p>
        </p:txBody>
      </p:sp>
      <p:sp>
        <p:nvSpPr>
          <p:cNvPr id="14" name="s14"/>
          <p:cNvSpPr/>
          <p:nvPr/>
        </p:nvSpPr>
        <p:spPr>
          <a:xfrm>
            <a:off x="548640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5" name="s15"/>
          <p:cNvSpPr/>
          <p:nvPr/>
        </p:nvSpPr>
        <p:spPr>
          <a:xfrm>
            <a:off x="777240" y="3095174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1F54C0"/>
                </a:solidFill>
              </a:rPr>
              <a:t>DE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777240" y="3755174"/>
            <a:ext cx="3106648" cy="20962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Server in Deutschland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Kein Rechenzentrum in den USA oder bei Hyperscalern. Betrieb ausschließlich auf deutschen Servern.</a:t>
            </a:r>
          </a:p>
        </p:txBody>
      </p:sp>
      <p:sp>
        <p:nvSpPr>
          <p:cNvPr id="17" name="s17"/>
          <p:cNvSpPr/>
          <p:nvPr/>
        </p:nvSpPr>
        <p:spPr>
          <a:xfrm>
            <a:off x="4312488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8" name="s18"/>
          <p:cNvSpPr/>
          <p:nvPr/>
        </p:nvSpPr>
        <p:spPr>
          <a:xfrm>
            <a:off x="4541088" y="3218618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9" name="s19"/>
          <p:cNvSpPr/>
          <p:nvPr/>
        </p:nvSpPr>
        <p:spPr>
          <a:xfrm>
            <a:off x="4661088" y="3338618"/>
            <a:ext cx="300000" cy="300000"/>
          </a:xfrm>
          <a:prstGeom prst="noSmoking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0" name="t20"/>
          <p:cNvSpPr txBox="1"/>
          <p:nvPr/>
        </p:nvSpPr>
        <p:spPr>
          <a:xfrm>
            <a:off x="4541088" y="3878618"/>
            <a:ext cx="3106648" cy="19727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Kein Training mit Ihren Daten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Das Modell lernt nicht aus Ihren Eingaben – keine Rückkopplung an den Hersteller.</a:t>
            </a:r>
          </a:p>
        </p:txBody>
      </p:sp>
      <p:sp>
        <p:nvSpPr>
          <p:cNvPr id="21" name="s21"/>
          <p:cNvSpPr/>
          <p:nvPr/>
        </p:nvSpPr>
        <p:spPr>
          <a:xfrm>
            <a:off x="8076336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2" name="s22"/>
          <p:cNvSpPr/>
          <p:nvPr/>
        </p:nvSpPr>
        <p:spPr>
          <a:xfrm>
            <a:off x="8304936" y="3218618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3" name="s23"/>
          <p:cNvSpPr/>
          <p:nvPr/>
        </p:nvSpPr>
        <p:spPr>
          <a:xfrm>
            <a:off x="8474936" y="3318618"/>
            <a:ext cx="200000" cy="200000"/>
          </a:xfrm>
          <a:prstGeom prst="donut">
            <a:avLst>
              <a:gd name="adj" fmla="val 22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4" name="s24"/>
          <p:cNvSpPr/>
          <p:nvPr/>
        </p:nvSpPr>
        <p:spPr>
          <a:xfrm>
            <a:off x="8439936" y="3458618"/>
            <a:ext cx="270000" cy="210000"/>
          </a:xfrm>
          <a:prstGeom prst="roundRect">
            <a:avLst>
              <a:gd name="adj" fmla="val 18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" name="t25"/>
          <p:cNvSpPr txBox="1"/>
          <p:nvPr/>
        </p:nvSpPr>
        <p:spPr>
          <a:xfrm>
            <a:off x="8304936" y="3878618"/>
            <a:ext cx="3106648" cy="19727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Keine Cloud-Abhängigkeit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Alle Komponenten laufen auf Ihrer Infrastruktur. Kein Single Point of Dependency.</a:t>
            </a:r>
          </a:p>
        </p:txBody>
      </p:sp>
      <p:pic>
        <p:nvPicPr>
          <p:cNvPr id="26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27" name="t27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WISSEN (RAG)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Unternehmenswissen bewahren und erschließen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Handbücher, Richtlinien, interne Dokumentationen – meist verteilt über viele Ordner und Köpfe. FreiKI macht dieses Wissen durchsuchbar und für alle nutzbar.</a:t>
            </a:r>
          </a:p>
        </p:txBody>
      </p:sp>
      <p:sp>
        <p:nvSpPr>
          <p:cNvPr id="14" name="s14"/>
          <p:cNvSpPr/>
          <p:nvPr/>
        </p:nvSpPr>
        <p:spPr>
          <a:xfrm>
            <a:off x="548640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5" name="s15"/>
          <p:cNvSpPr/>
          <p:nvPr/>
        </p:nvSpPr>
        <p:spPr>
          <a:xfrm>
            <a:off x="777240" y="297173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6" name="s16"/>
          <p:cNvSpPr/>
          <p:nvPr/>
        </p:nvSpPr>
        <p:spPr>
          <a:xfrm>
            <a:off x="927240" y="3086730"/>
            <a:ext cx="240000" cy="310000"/>
          </a:xfrm>
          <a:prstGeom prst="can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777240" y="3631730"/>
            <a:ext cx="3106648" cy="2219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Wissen bewahren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Fachwissen geht nicht verloren, wenn Mitarbeitende das Unternehmen verlassen – Dokumente und Prozesse bleiben dauerhaft auffindbar.</a:t>
            </a:r>
          </a:p>
        </p:txBody>
      </p:sp>
      <p:sp>
        <p:nvSpPr>
          <p:cNvPr id="18" name="s18"/>
          <p:cNvSpPr/>
          <p:nvPr/>
        </p:nvSpPr>
        <p:spPr>
          <a:xfrm>
            <a:off x="4312488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9" name="s19"/>
          <p:cNvSpPr/>
          <p:nvPr/>
        </p:nvSpPr>
        <p:spPr>
          <a:xfrm>
            <a:off x="4541088" y="2848286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0" name="s20"/>
          <p:cNvSpPr/>
          <p:nvPr/>
        </p:nvSpPr>
        <p:spPr>
          <a:xfrm>
            <a:off x="4651088" y="2958286"/>
            <a:ext cx="235000" cy="235000"/>
          </a:xfrm>
          <a:prstGeom prst="ellipse">
            <a:avLst/>
          </a:prstGeom>
          <a:noFill/>
          <a:ln w="34000">
            <a:solidFill>
              <a:srgbClr val="1F54C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1" name="s21"/>
          <p:cNvSpPr/>
          <p:nvPr/>
        </p:nvSpPr>
        <p:spPr>
          <a:xfrm rot="2700000">
            <a:off x="4841088" y="3148286"/>
            <a:ext cx="180000" cy="60000"/>
          </a:xfrm>
          <a:prstGeom prst="roundRect">
            <a:avLst>
              <a:gd name="adj" fmla="val 50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4541088" y="3508286"/>
            <a:ext cx="3106648" cy="23431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Wissen erschließen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Statt in Ordnerstrukturen zu suchen, stellt man die Frage direkt – FreiKI durchsucht alle freigegebenen Dokumente und liefert die Antwort mit Quelle.</a:t>
            </a:r>
          </a:p>
        </p:txBody>
      </p:sp>
      <p:sp>
        <p:nvSpPr>
          <p:cNvPr id="23" name="s23"/>
          <p:cNvSpPr/>
          <p:nvPr/>
        </p:nvSpPr>
        <p:spPr>
          <a:xfrm>
            <a:off x="8076336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4" name="s24"/>
          <p:cNvSpPr/>
          <p:nvPr/>
        </p:nvSpPr>
        <p:spPr>
          <a:xfrm>
            <a:off x="8304936" y="297173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" name="s25"/>
          <p:cNvSpPr/>
          <p:nvPr/>
        </p:nvSpPr>
        <p:spPr>
          <a:xfrm>
            <a:off x="8424936" y="3091730"/>
            <a:ext cx="300000" cy="300000"/>
          </a:xfrm>
          <a:prstGeom prst="donut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6" name="t26"/>
          <p:cNvSpPr txBox="1"/>
          <p:nvPr/>
        </p:nvSpPr>
        <p:spPr>
          <a:xfrm>
            <a:off x="8304936" y="3631730"/>
            <a:ext cx="3106648" cy="2219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Onboarding &amp; Sprachvielfalt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Neue und internationale Mitarbeitende finden sich schneller zurecht: Fragen zu internen Abläufen – in über 100 Sprachen beantwortet.</a:t>
            </a:r>
          </a:p>
        </p:txBody>
      </p:sp>
      <p:pic>
        <p:nvPicPr>
          <p:cNvPr id="27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28" name="t28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KI-UNTERSTÜTZTES DOKUMENTENMANAGEMENT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Paperless-ngx: das digitale Archiv mit KI-Verstand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FreiKI integriert Paperless-ngx als vollständig selbst gehostetes DMS. Dokumente werden eingescannt oder per Mail angeliefert – die KI übernimmt den Rest.</a:t>
            </a:r>
          </a:p>
        </p:txBody>
      </p:sp>
      <p:sp>
        <p:nvSpPr>
          <p:cNvPr id="14" name="s14"/>
          <p:cNvSpPr/>
          <p:nvPr/>
        </p:nvSpPr>
        <p:spPr>
          <a:xfrm>
            <a:off x="548640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5" name="s15"/>
          <p:cNvSpPr/>
          <p:nvPr/>
        </p:nvSpPr>
        <p:spPr>
          <a:xfrm>
            <a:off x="777240" y="297173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6" name="s16"/>
          <p:cNvSpPr/>
          <p:nvPr/>
        </p:nvSpPr>
        <p:spPr>
          <a:xfrm>
            <a:off x="882240" y="3121730"/>
            <a:ext cx="330000" cy="240000"/>
          </a:xfrm>
          <a:prstGeom prst="homePlate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777240" y="3631730"/>
            <a:ext cx="3106648" cy="2219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Automatisches Verschlagworten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Eingehende Dokumente werden gelesen, erkannt und automatisch mit Titeln, Tags und Dokumenttypen versehen – kein manuelles Einsortieren.</a:t>
            </a:r>
          </a:p>
        </p:txBody>
      </p:sp>
      <p:sp>
        <p:nvSpPr>
          <p:cNvPr id="18" name="s18"/>
          <p:cNvSpPr/>
          <p:nvPr/>
        </p:nvSpPr>
        <p:spPr>
          <a:xfrm>
            <a:off x="4312488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9" name="s19"/>
          <p:cNvSpPr/>
          <p:nvPr/>
        </p:nvSpPr>
        <p:spPr>
          <a:xfrm>
            <a:off x="4541088" y="297173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0" name="s20"/>
          <p:cNvSpPr/>
          <p:nvPr/>
        </p:nvSpPr>
        <p:spPr>
          <a:xfrm>
            <a:off x="4651088" y="3081730"/>
            <a:ext cx="235000" cy="235000"/>
          </a:xfrm>
          <a:prstGeom prst="ellipse">
            <a:avLst/>
          </a:prstGeom>
          <a:noFill/>
          <a:ln w="34000">
            <a:solidFill>
              <a:srgbClr val="1F54C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1" name="s21"/>
          <p:cNvSpPr/>
          <p:nvPr/>
        </p:nvSpPr>
        <p:spPr>
          <a:xfrm rot="2700000">
            <a:off x="4841088" y="3271730"/>
            <a:ext cx="180000" cy="60000"/>
          </a:xfrm>
          <a:prstGeom prst="roundRect">
            <a:avLst>
              <a:gd name="adj" fmla="val 50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4541088" y="3631730"/>
            <a:ext cx="3106648" cy="2219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Volltextsuche im Archiv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Alle archivierten Dokumente sind sofort durchsuchbar – per Freitext oder direkt aus dem FreiKI-Chat über die Wissensbereiche.</a:t>
            </a:r>
          </a:p>
        </p:txBody>
      </p:sp>
      <p:sp>
        <p:nvSpPr>
          <p:cNvPr id="23" name="s23"/>
          <p:cNvSpPr/>
          <p:nvPr/>
        </p:nvSpPr>
        <p:spPr>
          <a:xfrm>
            <a:off x="8076336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4" name="s24"/>
          <p:cNvSpPr/>
          <p:nvPr/>
        </p:nvSpPr>
        <p:spPr>
          <a:xfrm>
            <a:off x="8304936" y="297173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" name="s25"/>
          <p:cNvSpPr/>
          <p:nvPr/>
        </p:nvSpPr>
        <p:spPr>
          <a:xfrm>
            <a:off x="8474936" y="3071730"/>
            <a:ext cx="200000" cy="200000"/>
          </a:xfrm>
          <a:prstGeom prst="donut">
            <a:avLst>
              <a:gd name="adj" fmla="val 22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6" name="s26"/>
          <p:cNvSpPr/>
          <p:nvPr/>
        </p:nvSpPr>
        <p:spPr>
          <a:xfrm>
            <a:off x="8439936" y="3211730"/>
            <a:ext cx="270000" cy="210000"/>
          </a:xfrm>
          <a:prstGeom prst="roundRect">
            <a:avLst>
              <a:gd name="adj" fmla="val 18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7" name="t27"/>
          <p:cNvSpPr txBox="1"/>
          <p:nvPr/>
        </p:nvSpPr>
        <p:spPr>
          <a:xfrm>
            <a:off x="8304936" y="3631730"/>
            <a:ext cx="3106648" cy="2219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Dokumente verlassen Ihr Haus nicht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Weder für die Texterkennung noch für die KI-Analyse wird ein externer Dienst genutzt. Alles läuft auf Ihrer Infrastruktur.</a:t>
            </a:r>
          </a:p>
        </p:txBody>
      </p:sp>
      <p:pic>
        <p:nvPicPr>
          <p:cNvPr id="28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29" name="t29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>
            <a:spLocks/>
          </p:cNvSpPr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1" name="t11"/>
          <p:cNvSpPr txBox="1">
            <a:spLocks/>
          </p:cNvSpPr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NEU: TEAM-CHAT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Mattermost – Team-Kommunikation und KI in einem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FreiKI bringt einen vollständig selbst gehosteten Team-Chat mit: Mattermost (Open Source). Teamkommunikation und KI-Unterstützung auf derselben Infrastruktur.</a:t>
            </a:r>
          </a:p>
        </p:txBody>
      </p:sp>
      <p:sp>
        <p:nvSpPr>
          <p:cNvPr id="14" name="s14"/>
          <p:cNvSpPr>
            <a:spLocks/>
          </p:cNvSpPr>
          <p:nvPr/>
        </p:nvSpPr>
        <p:spPr>
          <a:xfrm>
            <a:off x="548640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15" name="s15"/>
          <p:cNvSpPr>
            <a:spLocks/>
          </p:cNvSpPr>
          <p:nvPr/>
        </p:nvSpPr>
        <p:spPr>
          <a:xfrm>
            <a:off x="777240" y="2848286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6" name="s16"/>
          <p:cNvSpPr>
            <a:spLocks/>
          </p:cNvSpPr>
          <p:nvPr/>
        </p:nvSpPr>
        <p:spPr>
          <a:xfrm>
            <a:off x="947240" y="2948286"/>
            <a:ext cx="200000" cy="200000"/>
          </a:xfrm>
          <a:prstGeom prst="donut">
            <a:avLst>
              <a:gd name="adj" fmla="val 22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7" name="s17"/>
          <p:cNvSpPr>
            <a:spLocks/>
          </p:cNvSpPr>
          <p:nvPr/>
        </p:nvSpPr>
        <p:spPr>
          <a:xfrm>
            <a:off x="912240" y="3088286"/>
            <a:ext cx="270000" cy="210000"/>
          </a:xfrm>
          <a:prstGeom prst="roundRect">
            <a:avLst>
              <a:gd name="adj" fmla="val 18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8" name="t18"/>
          <p:cNvSpPr txBox="1">
            <a:spLocks/>
          </p:cNvSpPr>
          <p:nvPr/>
        </p:nvSpPr>
        <p:spPr>
          <a:xfrm>
            <a:off x="777240" y="3508286"/>
            <a:ext cx="3106648" cy="23431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Ihre Daten bleiben bei Ihnen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Bei Slack, Microsoft Teams oder Google Chat liegen Gespräche auf fremden Servern – oft in den USA. Mattermost läuft nur auf Ihrer Infrastruktur.</a:t>
            </a:r>
          </a:p>
        </p:txBody>
      </p:sp>
      <p:sp>
        <p:nvSpPr>
          <p:cNvPr id="19" name="s19"/>
          <p:cNvSpPr>
            <a:spLocks/>
          </p:cNvSpPr>
          <p:nvPr/>
        </p:nvSpPr>
        <p:spPr>
          <a:xfrm>
            <a:off x="4312488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20" name="s20"/>
          <p:cNvSpPr>
            <a:spLocks/>
          </p:cNvSpPr>
          <p:nvPr/>
        </p:nvSpPr>
        <p:spPr>
          <a:xfrm>
            <a:off x="4541088" y="2848286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1F54C0"/>
                </a:solidFill>
              </a:rPr>
              <a:t>DE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4541088" y="3508286"/>
            <a:ext cx="3106648" cy="23431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DSGVO-konform ohne Kompromisse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Keine Drittanbieter, keine Datenweitergabe, kein AVV mit einem US-Konzern nötig. Mattermost läuft auf demselben deutschen Server wie FreiKI.</a:t>
            </a:r>
          </a:p>
        </p:txBody>
      </p:sp>
      <p:sp>
        <p:nvSpPr>
          <p:cNvPr id="22" name="s22"/>
          <p:cNvSpPr>
            <a:spLocks/>
          </p:cNvSpPr>
          <p:nvPr/>
        </p:nvSpPr>
        <p:spPr>
          <a:xfrm>
            <a:off x="8076336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 lang="de-DE"/>
          </a:p>
        </p:txBody>
      </p:sp>
      <p:sp>
        <p:nvSpPr>
          <p:cNvPr id="23" name="s23"/>
          <p:cNvSpPr>
            <a:spLocks/>
          </p:cNvSpPr>
          <p:nvPr/>
        </p:nvSpPr>
        <p:spPr>
          <a:xfrm>
            <a:off x="8304936" y="297173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24" name="s24"/>
          <p:cNvSpPr/>
          <p:nvPr/>
        </p:nvSpPr>
        <p:spPr>
          <a:xfrm>
            <a:off x="8414936" y="3091730"/>
            <a:ext cx="320000" cy="250000"/>
          </a:xfrm>
          <a:prstGeom prst="wedgeRoundRectCallout">
            <a:avLst>
              <a:gd name="adj1" fmla="val -40000"/>
              <a:gd name="adj2" fmla="val 60000"/>
              <a:gd name="adj3" fmla="val 16667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" name="t25"/>
          <p:cNvSpPr txBox="1"/>
          <p:nvPr/>
        </p:nvSpPr>
        <p:spPr>
          <a:xfrm>
            <a:off x="8304936" y="3631730"/>
            <a:ext cx="3106648" cy="2219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FreiKI-Bot direkt im Chat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Die KI ist mitten im Team-Gespräch erreichbar – Antworten inklusive Quellenangaben aus den internen Wissensbereichen.</a:t>
            </a:r>
          </a:p>
        </p:txBody>
      </p:sp>
      <p:pic>
        <p:nvPicPr>
          <p:cNvPr id="26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27" name="t27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>
            <a:spLocks/>
          </p:cNvSpPr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1" name="t11"/>
          <p:cNvSpPr txBox="1">
            <a:spLocks/>
          </p:cNvSpPr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AUTOMATISIERUNG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Mehr als ein Chat: Agenten im Hintergrund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Über die eingebaute Automatisierungs-Engine n8n lassen sich eigene KI-Agenten bauen, die selbstständig arbeiten – ganz ohne Klick in der Oberfläche.</a:t>
            </a:r>
          </a:p>
        </p:txBody>
      </p:sp>
      <p:sp>
        <p:nvSpPr>
          <p:cNvPr id="14" name="s14"/>
          <p:cNvSpPr/>
          <p:nvPr/>
        </p:nvSpPr>
        <p:spPr>
          <a:xfrm>
            <a:off x="548640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5" name="s15"/>
          <p:cNvSpPr>
            <a:spLocks/>
          </p:cNvSpPr>
          <p:nvPr/>
        </p:nvSpPr>
        <p:spPr>
          <a:xfrm>
            <a:off x="777240" y="2971730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6" name="s16"/>
          <p:cNvSpPr>
            <a:spLocks/>
          </p:cNvSpPr>
          <p:nvPr/>
        </p:nvSpPr>
        <p:spPr>
          <a:xfrm>
            <a:off x="892240" y="3136730"/>
            <a:ext cx="310000" cy="215000"/>
          </a:xfrm>
          <a:prstGeom prst="rect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 lang="de-DE"/>
          </a:p>
        </p:txBody>
      </p:sp>
      <p:sp>
        <p:nvSpPr>
          <p:cNvPr id="17" name="s17"/>
          <p:cNvSpPr/>
          <p:nvPr/>
        </p:nvSpPr>
        <p:spPr>
          <a:xfrm flipV="1">
            <a:off x="892240" y="3136730"/>
            <a:ext cx="310000" cy="150000"/>
          </a:xfrm>
          <a:prstGeom prst="triangle">
            <a:avLst/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8" name="t18"/>
          <p:cNvSpPr txBox="1"/>
          <p:nvPr/>
        </p:nvSpPr>
        <p:spPr>
          <a:xfrm>
            <a:off x="777240" y="3631730"/>
            <a:ext cx="3106648" cy="22196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Abwesenheitsassistent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Liest eingehende Mails, ignoriert Newsletter, leitet wichtige Anfragen weiter und beantwortet den Rest mit einer Abwesenheitsinfo.</a:t>
            </a:r>
          </a:p>
        </p:txBody>
      </p:sp>
      <p:sp>
        <p:nvSpPr>
          <p:cNvPr id="19" name="s19"/>
          <p:cNvSpPr/>
          <p:nvPr/>
        </p:nvSpPr>
        <p:spPr>
          <a:xfrm>
            <a:off x="4312488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0" name="s20"/>
          <p:cNvSpPr/>
          <p:nvPr/>
        </p:nvSpPr>
        <p:spPr>
          <a:xfrm>
            <a:off x="4541088" y="2848286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1" name="s21"/>
          <p:cNvSpPr/>
          <p:nvPr/>
        </p:nvSpPr>
        <p:spPr>
          <a:xfrm>
            <a:off x="4661088" y="2968286"/>
            <a:ext cx="300000" cy="300000"/>
          </a:xfrm>
          <a:prstGeom prst="donut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4541088" y="3508286"/>
            <a:ext cx="3106648" cy="23431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Selbstständige Recherche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Agenten durchsuchen eigenständig das Internet – z. B. nach Wetterwarnungen oder NINA-Meldungen – und stellen Hinweise per Mail oder Chat zu.</a:t>
            </a:r>
          </a:p>
        </p:txBody>
      </p:sp>
      <p:sp>
        <p:nvSpPr>
          <p:cNvPr id="23" name="s23"/>
          <p:cNvSpPr/>
          <p:nvPr/>
        </p:nvSpPr>
        <p:spPr>
          <a:xfrm>
            <a:off x="8076336" y="2050000"/>
            <a:ext cx="3563848" cy="40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4" name="s24"/>
          <p:cNvSpPr/>
          <p:nvPr/>
        </p:nvSpPr>
        <p:spPr>
          <a:xfrm>
            <a:off x="8304936" y="2848286"/>
            <a:ext cx="540000" cy="540000"/>
          </a:xfrm>
          <a:prstGeom prst="roundRect">
            <a:avLst>
              <a:gd name="adj" fmla="val 20000"/>
            </a:avLst>
          </a:prstGeom>
          <a:solidFill>
            <a:srgbClr val="E8EE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" name="s25"/>
          <p:cNvSpPr/>
          <p:nvPr/>
        </p:nvSpPr>
        <p:spPr>
          <a:xfrm>
            <a:off x="8414936" y="2983286"/>
            <a:ext cx="320000" cy="270000"/>
          </a:xfrm>
          <a:prstGeom prst="triangle">
            <a:avLst/>
          </a:prstGeom>
          <a:noFill/>
          <a:ln w="30000">
            <a:solidFill>
              <a:srgbClr val="1F54C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6" name="t26"/>
          <p:cNvSpPr txBox="1"/>
          <p:nvPr/>
        </p:nvSpPr>
        <p:spPr>
          <a:xfrm>
            <a:off x="8304936" y="3508286"/>
            <a:ext cx="3106648" cy="23431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de-DE" sz="1800" b="1" i="0">
                <a:solidFill>
                  <a:srgbClr val="15294A"/>
                </a:solidFill>
              </a:rPr>
              <a:t>Eskalations-Workflow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Die KI bewertet die Dringlichkeit einer Anfrage und löst bei Bedarf sofort eine Benachrichtigung aus – statt auf die normale Bearbeitung zu warten.</a:t>
            </a:r>
          </a:p>
        </p:txBody>
      </p:sp>
      <p:pic>
        <p:nvPicPr>
          <p:cNvPr id="27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28" name="t28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LIZENZ &amp; BETRIEB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Open Source – Sie selbst sind der Betreiber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Alle Bausteine von FreiKI sind frei verfügbar. Sie sind nicht an einen einzelnen Anbieter gebunden. Die einzigen laufenden Kosten sind Server und GPU.</a:t>
            </a:r>
          </a:p>
        </p:txBody>
      </p:sp>
      <p:sp>
        <p:nvSpPr>
          <p:cNvPr id="14" name="s14"/>
          <p:cNvSpPr/>
          <p:nvPr/>
        </p:nvSpPr>
        <p:spPr>
          <a:xfrm>
            <a:off x="548640" y="2200000"/>
            <a:ext cx="3537181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668640" y="2720000"/>
            <a:ext cx="3297181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F54C0"/>
                </a:solidFill>
              </a:rPr>
              <a:t>0 €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68640" y="3760000"/>
            <a:ext cx="3297181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Lizenzkosten</a:t>
            </a:r>
          </a:p>
        </p:txBody>
      </p:sp>
      <p:sp>
        <p:nvSpPr>
          <p:cNvPr id="17" name="s17"/>
          <p:cNvSpPr/>
          <p:nvPr/>
        </p:nvSpPr>
        <p:spPr>
          <a:xfrm>
            <a:off x="4325821" y="2200000"/>
            <a:ext cx="3537181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8" name="t18"/>
          <p:cNvSpPr txBox="1"/>
          <p:nvPr/>
        </p:nvSpPr>
        <p:spPr>
          <a:xfrm>
            <a:off x="4445821" y="2720000"/>
            <a:ext cx="3297181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F54C0"/>
                </a:solidFill>
              </a:rPr>
              <a:t>100 %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4445821" y="3760000"/>
            <a:ext cx="3297181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Daten in eigener Infrastruktur</a:t>
            </a:r>
          </a:p>
        </p:txBody>
      </p:sp>
      <p:sp>
        <p:nvSpPr>
          <p:cNvPr id="20" name="s20"/>
          <p:cNvSpPr/>
          <p:nvPr/>
        </p:nvSpPr>
        <p:spPr>
          <a:xfrm>
            <a:off x="8103002" y="2200000"/>
            <a:ext cx="3537181" cy="2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8223002" y="2720000"/>
            <a:ext cx="3297181" cy="9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F54C0"/>
                </a:solidFill>
              </a:rPr>
              <a:t>frei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8223002" y="3760000"/>
            <a:ext cx="3297181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wählbares LLM</a:t>
            </a:r>
          </a:p>
        </p:txBody>
      </p:sp>
      <p:sp>
        <p:nvSpPr>
          <p:cNvPr id="23" name="s23"/>
          <p:cNvSpPr/>
          <p:nvPr/>
        </p:nvSpPr>
        <p:spPr>
          <a:xfrm>
            <a:off x="548640" y="4760000"/>
            <a:ext cx="11091545" cy="620000"/>
          </a:xfrm>
          <a:prstGeom prst="roundRect">
            <a:avLst>
              <a:gd name="adj" fmla="val 16000"/>
            </a:avLst>
          </a:prstGeom>
          <a:solidFill>
            <a:srgbClr val="EEF2FB"/>
          </a:solidFill>
          <a:ln w="9525">
            <a:solidFill>
              <a:srgbClr val="DCE5F6"/>
            </a:solidFill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15294A"/>
                </a:solidFill>
              </a:rPr>
              <a:t>Sie bleiben unabhängig: kein Vendor-Lock-in, kein Abo-Zwang, keine versteckten Kosten.</a:t>
            </a:r>
          </a:p>
        </p:txBody>
      </p:sp>
      <p:pic>
        <p:nvPicPr>
          <p:cNvPr id="24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25" name="t25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LIZENZ &amp; BETRIEB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Cloud oder On-Premises?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548640" y="1480000"/>
            <a:ext cx="11091545" cy="6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Zwei Betriebsmodelle – Sie entscheiden je nach Budget und Anforderung.</a:t>
            </a:r>
          </a:p>
        </p:txBody>
      </p:sp>
      <p:sp>
        <p:nvSpPr>
          <p:cNvPr id="14" name="s14"/>
          <p:cNvSpPr/>
          <p:nvPr/>
        </p:nvSpPr>
        <p:spPr>
          <a:xfrm>
            <a:off x="548640" y="1900000"/>
            <a:ext cx="5395772" cy="4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5" name="s15"/>
          <p:cNvSpPr/>
          <p:nvPr/>
        </p:nvSpPr>
        <p:spPr>
          <a:xfrm>
            <a:off x="548640" y="1900000"/>
            <a:ext cx="5395772" cy="860000"/>
          </a:xfrm>
          <a:prstGeom prst="roundRect">
            <a:avLst>
              <a:gd name="adj" fmla="val 6000"/>
            </a:avLst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6" name="s16"/>
          <p:cNvSpPr/>
          <p:nvPr/>
        </p:nvSpPr>
        <p:spPr>
          <a:xfrm>
            <a:off x="548640" y="2330000"/>
            <a:ext cx="5395772" cy="430000"/>
          </a:xfrm>
          <a:prstGeom prst="rect">
            <a:avLst/>
          </a:prstGeom>
          <a:solidFill>
            <a:srgbClr val="1F54C0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848640" y="2050000"/>
            <a:ext cx="4795772" cy="5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50" b="1" i="0">
                <a:solidFill>
                  <a:srgbClr val="FFFFFF"/>
                </a:solidFill>
              </a:rPr>
              <a:t>Cloud (EU)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D7E2FA"/>
                </a:solidFill>
              </a:rPr>
              <a:t>ca. 1.500 € / Monat</a:t>
            </a:r>
          </a:p>
        </p:txBody>
      </p:sp>
      <p:sp>
        <p:nvSpPr>
          <p:cNvPr id="18" name="s18"/>
          <p:cNvSpPr/>
          <p:nvPr/>
        </p:nvSpPr>
        <p:spPr>
          <a:xfrm>
            <a:off x="848640" y="3005000"/>
            <a:ext cx="150000" cy="150000"/>
          </a:xfrm>
          <a:prstGeom prst="ellipse">
            <a:avLst/>
          </a:prstGeom>
          <a:solidFill>
            <a:srgbClr val="1F7A45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9" name="t19"/>
          <p:cNvSpPr txBox="1"/>
          <p:nvPr/>
        </p:nvSpPr>
        <p:spPr>
          <a:xfrm>
            <a:off x="848640" y="2945000"/>
            <a:ext cx="80000" cy="26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1088640" y="2930000"/>
            <a:ext cx="4555772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15294A"/>
                </a:solidFill>
              </a:rPr>
              <a:t>Schnell startklar und flexibel</a:t>
            </a:r>
          </a:p>
        </p:txBody>
      </p:sp>
      <p:sp>
        <p:nvSpPr>
          <p:cNvPr id="21" name="s21"/>
          <p:cNvSpPr/>
          <p:nvPr/>
        </p:nvSpPr>
        <p:spPr>
          <a:xfrm>
            <a:off x="848640" y="3625000"/>
            <a:ext cx="150000" cy="150000"/>
          </a:xfrm>
          <a:prstGeom prst="ellipse">
            <a:avLst/>
          </a:prstGeom>
          <a:solidFill>
            <a:srgbClr val="1F7A45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848640" y="3565000"/>
            <a:ext cx="80000" cy="26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1088640" y="3550000"/>
            <a:ext cx="4555772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15294A"/>
                </a:solidFill>
              </a:rPr>
              <a:t>Europäische Anbieter (z. B. Hetzner, OVHcloud)</a:t>
            </a:r>
          </a:p>
        </p:txBody>
      </p:sp>
      <p:sp>
        <p:nvSpPr>
          <p:cNvPr id="24" name="s24"/>
          <p:cNvSpPr/>
          <p:nvPr/>
        </p:nvSpPr>
        <p:spPr>
          <a:xfrm>
            <a:off x="848640" y="4245000"/>
            <a:ext cx="150000" cy="150000"/>
          </a:xfrm>
          <a:prstGeom prst="ellipse">
            <a:avLst/>
          </a:prstGeom>
          <a:solidFill>
            <a:srgbClr val="1F7A45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" name="t25"/>
          <p:cNvSpPr txBox="1"/>
          <p:nvPr/>
        </p:nvSpPr>
        <p:spPr>
          <a:xfrm>
            <a:off x="848640" y="4185000"/>
            <a:ext cx="80000" cy="26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1088640" y="4170000"/>
            <a:ext cx="4555772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15294A"/>
                </a:solidFill>
              </a:rPr>
              <a:t>Keine Einstiegskosten</a:t>
            </a:r>
          </a:p>
        </p:txBody>
      </p:sp>
      <p:sp>
        <p:nvSpPr>
          <p:cNvPr id="27" name="s27"/>
          <p:cNvSpPr/>
          <p:nvPr/>
        </p:nvSpPr>
        <p:spPr>
          <a:xfrm>
            <a:off x="6244412" y="1900000"/>
            <a:ext cx="5395772" cy="4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8" name="s28"/>
          <p:cNvSpPr/>
          <p:nvPr/>
        </p:nvSpPr>
        <p:spPr>
          <a:xfrm>
            <a:off x="6244412" y="1900000"/>
            <a:ext cx="5395772" cy="860000"/>
          </a:xfrm>
          <a:prstGeom prst="roundRect">
            <a:avLst>
              <a:gd name="adj" fmla="val 6000"/>
            </a:avLst>
          </a:prstGeom>
          <a:solidFill>
            <a:srgbClr val="14306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9" name="s29"/>
          <p:cNvSpPr/>
          <p:nvPr/>
        </p:nvSpPr>
        <p:spPr>
          <a:xfrm>
            <a:off x="6244412" y="2330000"/>
            <a:ext cx="5395772" cy="43000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0" name="t30"/>
          <p:cNvSpPr txBox="1"/>
          <p:nvPr/>
        </p:nvSpPr>
        <p:spPr>
          <a:xfrm>
            <a:off x="6544412" y="2050000"/>
            <a:ext cx="4795772" cy="5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50" b="1" i="0">
                <a:solidFill>
                  <a:srgbClr val="FFFFFF"/>
                </a:solidFill>
              </a:rPr>
              <a:t>On-Premises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D7E2FA"/>
                </a:solidFill>
              </a:rPr>
              <a:t>ab ca. 50.000 € einmalig</a:t>
            </a:r>
          </a:p>
        </p:txBody>
      </p:sp>
      <p:sp>
        <p:nvSpPr>
          <p:cNvPr id="31" name="s31"/>
          <p:cNvSpPr/>
          <p:nvPr/>
        </p:nvSpPr>
        <p:spPr>
          <a:xfrm>
            <a:off x="6544412" y="3005000"/>
            <a:ext cx="150000" cy="150000"/>
          </a:xfrm>
          <a:prstGeom prst="ellipse">
            <a:avLst/>
          </a:prstGeom>
          <a:solidFill>
            <a:srgbClr val="1F7A45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2" name="t32"/>
          <p:cNvSpPr txBox="1"/>
          <p:nvPr/>
        </p:nvSpPr>
        <p:spPr>
          <a:xfrm>
            <a:off x="6544412" y="2945000"/>
            <a:ext cx="80000" cy="26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6784412" y="2930000"/>
            <a:ext cx="4555772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15294A"/>
                </a:solidFill>
              </a:rPr>
              <a:t>Eigener GPU-Server, einmalige Anschaffung</a:t>
            </a:r>
          </a:p>
        </p:txBody>
      </p:sp>
      <p:sp>
        <p:nvSpPr>
          <p:cNvPr id="34" name="s34"/>
          <p:cNvSpPr/>
          <p:nvPr/>
        </p:nvSpPr>
        <p:spPr>
          <a:xfrm>
            <a:off x="6544412" y="3625000"/>
            <a:ext cx="150000" cy="150000"/>
          </a:xfrm>
          <a:prstGeom prst="ellipse">
            <a:avLst/>
          </a:prstGeom>
          <a:solidFill>
            <a:srgbClr val="1F7A45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5" name="t35"/>
          <p:cNvSpPr txBox="1"/>
          <p:nvPr/>
        </p:nvSpPr>
        <p:spPr>
          <a:xfrm>
            <a:off x="6544412" y="3565000"/>
            <a:ext cx="80000" cy="26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36"/>
          <p:cNvSpPr txBox="1"/>
          <p:nvPr/>
        </p:nvSpPr>
        <p:spPr>
          <a:xfrm>
            <a:off x="6784412" y="3550000"/>
            <a:ext cx="4555772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15294A"/>
                </a:solidFill>
              </a:rPr>
              <a:t>Danach nur Strom und Netzanbindung</a:t>
            </a:r>
          </a:p>
        </p:txBody>
      </p:sp>
      <p:sp>
        <p:nvSpPr>
          <p:cNvPr id="37" name="s37"/>
          <p:cNvSpPr/>
          <p:nvPr/>
        </p:nvSpPr>
        <p:spPr>
          <a:xfrm>
            <a:off x="6544412" y="4245000"/>
            <a:ext cx="150000" cy="150000"/>
          </a:xfrm>
          <a:prstGeom prst="ellipse">
            <a:avLst/>
          </a:prstGeom>
          <a:solidFill>
            <a:srgbClr val="1F7A45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8" name="t38"/>
          <p:cNvSpPr txBox="1"/>
          <p:nvPr/>
        </p:nvSpPr>
        <p:spPr>
          <a:xfrm>
            <a:off x="6544412" y="4185000"/>
            <a:ext cx="80000" cy="26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t39"/>
          <p:cNvSpPr txBox="1"/>
          <p:nvPr/>
        </p:nvSpPr>
        <p:spPr>
          <a:xfrm>
            <a:off x="6784412" y="4170000"/>
            <a:ext cx="4555772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15294A"/>
                </a:solidFill>
              </a:rPr>
              <a:t>Ab ca. 3 Jahren günstiger als Cloud-Miete</a:t>
            </a:r>
          </a:p>
        </p:txBody>
      </p:sp>
      <p:pic>
        <p:nvPicPr>
          <p:cNvPr id="40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41" name="t41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548640" y="455000"/>
            <a:ext cx="11091545" cy="30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F54C0"/>
                </a:solidFill>
              </a:rPr>
              <a:t>HÄUFIGE FRAGEN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48640" y="720000"/>
            <a:ext cx="11091545" cy="76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3300" b="1" i="0">
                <a:solidFill>
                  <a:srgbClr val="15294A"/>
                </a:solidFill>
              </a:rPr>
              <a:t>Was Skeptiker fragen – und unsere Antworten</a:t>
            </a:r>
          </a:p>
        </p:txBody>
      </p:sp>
      <p:sp>
        <p:nvSpPr>
          <p:cNvPr id="13" name="s13"/>
          <p:cNvSpPr/>
          <p:nvPr/>
        </p:nvSpPr>
        <p:spPr>
          <a:xfrm>
            <a:off x="548640" y="1760000"/>
            <a:ext cx="5405772" cy="18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4" name="s14"/>
          <p:cNvSpPr/>
          <p:nvPr/>
        </p:nvSpPr>
        <p:spPr>
          <a:xfrm>
            <a:off x="808640" y="2010000"/>
            <a:ext cx="420000" cy="420000"/>
          </a:xfrm>
          <a:prstGeom prst="roundRect">
            <a:avLst>
              <a:gd name="adj" fmla="val 22000"/>
            </a:avLst>
          </a:prstGeom>
          <a:solidFill>
            <a:srgbClr val="1F54C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1328640" y="2010000"/>
            <a:ext cx="4365772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Ist das wirklich so gut wie ChatGPT?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808640" y="2580000"/>
            <a:ext cx="4885772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Für interne Zwecke: ja. Sie gewinnen vollständigen Datenschutz; was Sie eventuell aufgeben, sind die allerneuesten Web-Informationen.</a:t>
            </a:r>
          </a:p>
        </p:txBody>
      </p:sp>
      <p:sp>
        <p:nvSpPr>
          <p:cNvPr id="17" name="s17"/>
          <p:cNvSpPr/>
          <p:nvPr/>
        </p:nvSpPr>
        <p:spPr>
          <a:xfrm>
            <a:off x="6234412" y="1760000"/>
            <a:ext cx="5405772" cy="18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18" name="s18"/>
          <p:cNvSpPr/>
          <p:nvPr/>
        </p:nvSpPr>
        <p:spPr>
          <a:xfrm>
            <a:off x="6494412" y="2010000"/>
            <a:ext cx="420000" cy="420000"/>
          </a:xfrm>
          <a:prstGeom prst="roundRect">
            <a:avLst>
              <a:gd name="adj" fmla="val 22000"/>
            </a:avLst>
          </a:prstGeom>
          <a:solidFill>
            <a:srgbClr val="1F54C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014412" y="2010000"/>
            <a:ext cx="4365772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Lernt die KI aus unseren Daten?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6494412" y="2580000"/>
            <a:ext cx="4885772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Nein. Das Modell ist statisch und trainiert nicht mit Ihren Eingaben. Es gibt keine Rückkopplung an den Modell-Hersteller.</a:t>
            </a:r>
          </a:p>
        </p:txBody>
      </p:sp>
      <p:sp>
        <p:nvSpPr>
          <p:cNvPr id="21" name="s21"/>
          <p:cNvSpPr/>
          <p:nvPr/>
        </p:nvSpPr>
        <p:spPr>
          <a:xfrm>
            <a:off x="548640" y="3840000"/>
            <a:ext cx="5405772" cy="18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2" name="s22"/>
          <p:cNvSpPr/>
          <p:nvPr/>
        </p:nvSpPr>
        <p:spPr>
          <a:xfrm>
            <a:off x="808640" y="4090000"/>
            <a:ext cx="420000" cy="420000"/>
          </a:xfrm>
          <a:prstGeom prst="roundRect">
            <a:avLst>
              <a:gd name="adj" fmla="val 22000"/>
            </a:avLst>
          </a:prstGeom>
          <a:solidFill>
            <a:srgbClr val="1F54C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1328640" y="4090000"/>
            <a:ext cx="4365772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Werden meine Anfragen gespeichert?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808640" y="4660000"/>
            <a:ext cx="4885772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Nein. Nach jeder Antwort werden Verlauf und Kontext serverseitig vollständig gelöscht – der Verlauf bleibt nur im Browser der Sitzung.</a:t>
            </a:r>
          </a:p>
        </p:txBody>
      </p:sp>
      <p:sp>
        <p:nvSpPr>
          <p:cNvPr id="25" name="s25"/>
          <p:cNvSpPr/>
          <p:nvPr/>
        </p:nvSpPr>
        <p:spPr>
          <a:xfrm>
            <a:off x="6234412" y="3840000"/>
            <a:ext cx="5405772" cy="18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F0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6" name="s26"/>
          <p:cNvSpPr/>
          <p:nvPr/>
        </p:nvSpPr>
        <p:spPr>
          <a:xfrm>
            <a:off x="6494412" y="4090000"/>
            <a:ext cx="420000" cy="420000"/>
          </a:xfrm>
          <a:prstGeom prst="roundRect">
            <a:avLst>
              <a:gd name="adj" fmla="val 22000"/>
            </a:avLst>
          </a:prstGeom>
          <a:solidFill>
            <a:srgbClr val="1F54C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7014412" y="4090000"/>
            <a:ext cx="4365772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Was, wenn der Server ausfällt?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6494412" y="4660000"/>
            <a:ext cx="4885772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800" b="0" i="0">
                <a:solidFill>
                  <a:srgbClr val="5A6B82"/>
                </a:solidFill>
              </a:rPr>
              <a:t>Dann ist FreiKI vorübergehend nicht verfügbar. Professionelle Rechenzentren bieten hohe Verfügbarkeit – mehr als ein eigener Server im Haus.</a:t>
            </a:r>
          </a:p>
        </p:txBody>
      </p:sp>
      <p:pic>
        <p:nvPicPr>
          <p:cNvPr id="29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30000"/>
            <a:ext cx="300000" cy="300000"/>
          </a:xfrm>
          <a:prstGeom prst="rect">
            <a:avLst/>
          </a:prstGeom>
        </p:spPr>
      </p:pic>
      <p:sp>
        <p:nvSpPr>
          <p:cNvPr id="30" name="t30"/>
          <p:cNvSpPr txBox="1"/>
          <p:nvPr/>
        </p:nvSpPr>
        <p:spPr>
          <a:xfrm>
            <a:off x="968640" y="6402000"/>
            <a:ext cx="1500000" cy="35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800" b="1" i="0">
                <a:solidFill>
                  <a:srgbClr val="15294A"/>
                </a:solidFill>
              </a:rPr>
              <a:t>Frei</a:t>
            </a:r>
            <a:r>
              <a:rPr lang="de-DE" sz="1800" b="1" i="0">
                <a:solidFill>
                  <a:srgbClr val="1F54C0"/>
                </a:solidFill>
              </a:rPr>
              <a:t>KI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14306B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pic>
        <p:nvPicPr>
          <p:cNvPr id="11" name="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4412" y="900000"/>
            <a:ext cx="1500000" cy="1500000"/>
          </a:xfrm>
          <a:prstGeom prst="rect">
            <a:avLst/>
          </a:prstGeom>
        </p:spPr>
      </p:pic>
      <p:sp>
        <p:nvSpPr>
          <p:cNvPr id="12" name="t12"/>
          <p:cNvSpPr txBox="1"/>
          <p:nvPr/>
        </p:nvSpPr>
        <p:spPr>
          <a:xfrm>
            <a:off x="0" y="2520000"/>
            <a:ext cx="12188825" cy="7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</a:rPr>
              <a:t>Frei</a:t>
            </a:r>
            <a:r>
              <a:rPr sz="4000" b="1" i="0">
                <a:solidFill>
                  <a:srgbClr val="5C8DF0"/>
                </a:solidFill>
              </a:rPr>
              <a:t>KI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348640" y="3380000"/>
            <a:ext cx="9491545" cy="7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900" b="0" i="0">
                <a:solidFill>
                  <a:srgbClr val="C3D1EE"/>
                </a:solidFill>
              </a:rPr>
              <a:t>Datenschutz, Unabhängigkeit und volle Kontrolle – KI in Ihrer eigenen Organisation.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348640" y="4280000"/>
            <a:ext cx="9491545" cy="6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800" b="0" i="0" dirty="0">
                <a:solidFill>
                  <a:srgbClr val="AFC0E2"/>
                </a:solidFill>
              </a:rPr>
              <a:t>Bei Interesse Anfrage an </a:t>
            </a:r>
            <a:r>
              <a:rPr lang="de-DE" sz="1800" b="0" i="0" dirty="0" err="1">
                <a:solidFill>
                  <a:srgbClr val="AFC0E2"/>
                </a:solidFill>
              </a:rPr>
              <a:t>admin@freiki.com</a:t>
            </a:r>
            <a:endParaRPr lang="de-DE" sz="1800" b="0" i="0" dirty="0">
              <a:solidFill>
                <a:srgbClr val="AFC0E2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800" b="0" i="0" dirty="0">
                <a:solidFill>
                  <a:srgbClr val="AFC0E2"/>
                </a:solidFill>
              </a:rPr>
              <a:t>Sie erhalten ein Passwort für den Testserver.</a:t>
            </a:r>
          </a:p>
        </p:txBody>
      </p:sp>
      <p:sp>
        <p:nvSpPr>
          <p:cNvPr id="15" name="s15"/>
          <p:cNvSpPr/>
          <p:nvPr/>
        </p:nvSpPr>
        <p:spPr>
          <a:xfrm>
            <a:off x="4794412" y="5060000"/>
            <a:ext cx="2600000" cy="560000"/>
          </a:xfrm>
          <a:prstGeom prst="roundRect">
            <a:avLst>
              <a:gd name="adj" fmla="val 26000"/>
            </a:avLst>
          </a:prstGeom>
          <a:solidFill>
            <a:srgbClr val="1F54C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de-DE" sz="1800" b="1">
                <a:solidFill>
                  <a:srgbClr val="FFFFFF"/>
                </a:solidFill>
              </a:rPr>
              <a:t>Zugang anfragen  →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0" y="5920000"/>
            <a:ext cx="12188825" cy="3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1800" b="0" i="0" dirty="0">
                <a:solidFill>
                  <a:srgbClr val="8FA4CC"/>
                </a:solidFill>
              </a:rPr>
              <a:t>Deutscher Server   ·   DSGVO/DSG-EKD-konform   ·   Ohne Lizenzrisiken   ·  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1108</Words>
  <Application>Microsoft Macintosh PowerPoint</Application>
  <PresentationFormat>Benutzerdefiniert</PresentationFormat>
  <Paragraphs>166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Stefan</cp:lastModifiedBy>
  <cp:revision>3</cp:revision>
  <dcterms:created xsi:type="dcterms:W3CDTF">2013-01-27T09:14:16Z</dcterms:created>
  <dcterms:modified xsi:type="dcterms:W3CDTF">2026-06-23T14:35:25Z</dcterms:modified>
  <cp:category/>
</cp:coreProperties>
</file>